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esarkar" userId="3f1227e5a580a993" providerId="LiveId" clId="{898E3E0D-CF5F-4E40-9372-6D2059687DE9}"/>
    <pc:docChg chg="addSld modSld">
      <pc:chgData name="aditya kesarkar" userId="3f1227e5a580a993" providerId="LiveId" clId="{898E3E0D-CF5F-4E40-9372-6D2059687DE9}" dt="2026-05-14T17:51:43.838" v="118" actId="680"/>
      <pc:docMkLst>
        <pc:docMk/>
      </pc:docMkLst>
      <pc:sldChg chg="modSp mod">
        <pc:chgData name="aditya kesarkar" userId="3f1227e5a580a993" providerId="LiveId" clId="{898E3E0D-CF5F-4E40-9372-6D2059687DE9}" dt="2026-05-11T11:38:33.802" v="117" actId="1076"/>
        <pc:sldMkLst>
          <pc:docMk/>
          <pc:sldMk cId="0" sldId="256"/>
        </pc:sldMkLst>
        <pc:spChg chg="mod">
          <ac:chgData name="aditya kesarkar" userId="3f1227e5a580a993" providerId="LiveId" clId="{898E3E0D-CF5F-4E40-9372-6D2059687DE9}" dt="2026-05-11T11:38:26.866" v="11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ditya kesarkar" userId="3f1227e5a580a993" providerId="LiveId" clId="{898E3E0D-CF5F-4E40-9372-6D2059687DE9}" dt="2026-05-11T11:36:44.545" v="79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aditya kesarkar" userId="3f1227e5a580a993" providerId="LiveId" clId="{898E3E0D-CF5F-4E40-9372-6D2059687DE9}" dt="2026-05-11T11:38:33.802" v="11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ditya kesarkar" userId="3f1227e5a580a993" providerId="LiveId" clId="{898E3E0D-CF5F-4E40-9372-6D2059687DE9}" dt="2026-05-11T11:38:21.394" v="115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ditya kesarkar" userId="3f1227e5a580a993" providerId="LiveId" clId="{898E3E0D-CF5F-4E40-9372-6D2059687DE9}" dt="2026-05-11T11:36:50.857" v="80" actId="1076"/>
          <ac:spMkLst>
            <pc:docMk/>
            <pc:sldMk cId="0" sldId="256"/>
            <ac:spMk id="10" creationId="{00000000-0000-0000-0000-000000000000}"/>
          </ac:spMkLst>
        </pc:spChg>
      </pc:sldChg>
      <pc:sldChg chg="new">
        <pc:chgData name="aditya kesarkar" userId="3f1227e5a580a993" providerId="LiveId" clId="{898E3E0D-CF5F-4E40-9372-6D2059687DE9}" dt="2026-05-14T17:51:43.838" v="118" actId="680"/>
        <pc:sldMkLst>
          <pc:docMk/>
          <pc:sldMk cId="2272575391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56"/>
            <a:ext cx="12188952" cy="3657600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3657599"/>
            <a:ext cx="12188952" cy="228601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86814"/>
            <a:ext cx="1090879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FFFFFF"/>
                </a:solidFill>
                <a:latin typeface="Times New Roman"/>
              </a:rPr>
              <a:t>Battery Range and Adoption Patterns
of Electric Vehicles</a:t>
            </a:r>
            <a:endParaRPr lang="en-IN" sz="3400" b="1" i="0" dirty="0">
              <a:solidFill>
                <a:srgbClr val="FFFFFF"/>
              </a:solidFill>
              <a:latin typeface="Times New Roman"/>
            </a:endParaRP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Times New Roman"/>
              </a:rPr>
              <a:t>Aditya Kesarkar</a:t>
            </a:r>
          </a:p>
          <a:p>
            <a:pPr algn="ctr"/>
            <a:r>
              <a:rPr lang="en-IN" sz="2400" i="0" dirty="0">
                <a:solidFill>
                  <a:schemeClr val="bg1"/>
                </a:solidFill>
                <a:latin typeface="Times New Roman"/>
              </a:rPr>
              <a:t>MSc in Business Analytics-Dublin Business School</a:t>
            </a:r>
            <a:endParaRPr sz="2400" i="0" dirty="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2238658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1" dirty="0">
                <a:solidFill>
                  <a:srgbClr val="C89010"/>
                </a:solidFill>
                <a:latin typeface="Times New Roman"/>
              </a:rPr>
              <a:t>Supervisor: Prof. Samuel Ogwu</a:t>
            </a:r>
          </a:p>
          <a:p>
            <a:pPr algn="ctr"/>
            <a:r>
              <a:rPr sz="1600" b="0" i="1" dirty="0">
                <a:solidFill>
                  <a:srgbClr val="C89010"/>
                </a:solidFill>
                <a:latin typeface="Times New Roman"/>
              </a:rPr>
              <a:t>An Analytical Study Using Washington State Registration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977639"/>
            <a:ext cx="342900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0233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D1B"/>
                </a:solidFill>
                <a:latin typeface="Times New Roman"/>
              </a:rPr>
              <a:t>280,833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98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  <a:latin typeface="Times New Roman"/>
              </a:rPr>
              <a:t>Vehicle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977639"/>
            <a:ext cx="342900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34256" y="4035013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1B3D1B"/>
                </a:solidFill>
                <a:latin typeface="Times New Roman"/>
              </a:rPr>
              <a:t>4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498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  <a:latin typeface="Times New Roman"/>
              </a:rPr>
              <a:t>Lin · DT · RF · XGBoost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3977639"/>
            <a:ext cx="342900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40233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D1B"/>
                </a:solidFill>
                <a:latin typeface="Times New Roman"/>
              </a:rPr>
              <a:t>R² = 0.9901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498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  <a:latin typeface="Times New Roman"/>
              </a:rPr>
              <a:t>XGBoost on Test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0936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Times New Roman"/>
              </a:rPr>
              <a:t>Washington State   |   FY 2017 - 2026   |   Flask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575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1731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1C1C"/>
                </a:solidFill>
                <a:latin typeface="Times New Roman"/>
              </a:rPr>
              <a:t>1.  No reliable tool exists to predict EV battery range from vehicle attributes, leaving consumers and policymakers without data-driven guidance.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1C1C1C"/>
                </a:solidFill>
                <a:latin typeface="Times New Roman"/>
              </a:rPr>
              <a:t>2.  EV adoption in rural areas significantly lags behind urban areas, yet this disparity has not been well quantified over time.</a:t>
            </a:r>
          </a:p>
          <a:p>
            <a:pPr algn="l"/>
            <a:r>
              <a:rPr sz="1100" b="0" i="1">
                <a:solidFill>
                  <a:srgbClr val="444444"/>
                </a:solidFill>
                <a:latin typeface="Times New Roman"/>
              </a:rPr>
              <a:t>Range anxiety - the concern that a battery will not reach the destination - remains a primary barrier to EV adoption, particularly for rural and older drivers (Forsythe et al., 2023; Eby et al., 2025).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36576" cy="539496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Washington State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48640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72768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Times New Roman"/>
              </a:rPr>
              <a:t>Dataset: 280,833 registered EVs with 17 vehicle-level attributes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Attributes include: model year, manufacturer, EV type, area classification, CAFV eligibility, and electric range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State context: clean electricity standard, low hydroelectric power prices, and expanding charging network make Washington State a leading EV adoption environment (Gifford &amp; Barbier, 2025)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C1C1C"/>
                </a:solidFill>
                <a:latin typeface="Times New Roman"/>
              </a:rPr>
              <a:t>Two public datasets from data.wa.gov: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   Primary:  EV Population Dataset - 280,833 records, 17 attributes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   Secondary:  Vehicle Registrations by Class and County - 1,468,493 records, FY 2017-2026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1731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Research Questions &amp;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Research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3D1B"/>
                </a:solidFill>
                <a:latin typeface="Times New Roman"/>
              </a:rPr>
              <a:t>RQ1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How accurately do vehicle attributes (model year, manufacturer, EV type, area, and CAFV status) predict the distance an EV can travel on a single charge, using supervised regression?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3D1B"/>
                </a:solidFill>
                <a:latin typeface="Times New Roman"/>
              </a:rPr>
              <a:t>RQ2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How has EV adoption changed in Washington State from FY17 to FY26, and are there significant differences in registration growth between urban and rural counties?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3D1B"/>
                </a:solidFill>
                <a:latin typeface="Times New Roman"/>
              </a:rPr>
              <a:t>RQ3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Which of the four regression models (Linear Regression, Decision Tree, Random Forest, XGBoost) performs best based on R-squared, MAE, and RMSE on a held-out test set?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768" y="1097280"/>
            <a:ext cx="36576" cy="539496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17043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Hypotheses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9496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572768"/>
            <a:ext cx="5394960" cy="141732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  <a:latin typeface="Times New Roman"/>
              </a:rPr>
              <a:t>H0  (Null Hypothesis)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65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Vehicle attributes do not significantly predict the distance an EV can travel on a single charge. No regression model achieves R2 &gt; 0.85 on the held-out test 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127248"/>
            <a:ext cx="5394960" cy="1719072"/>
          </a:xfrm>
          <a:prstGeom prst="rect">
            <a:avLst/>
          </a:prstGeom>
          <a:solidFill>
            <a:srgbClr val="E5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200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H1  (Alternative Hypothesis)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538728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Vehicle attributes significantly predict EV range (R2 &gt; 0.85). XGBoost outperforms Linear Regression, Decision Tree, and Random Forest by capturing nonlinear feature interactions and sequentially correcting prediction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1731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Data &amp; Preprocessing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35608"/>
            <a:ext cx="361188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3611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1C1C"/>
                </a:solidFill>
                <a:latin typeface="Times New Roman"/>
              </a:rPr>
              <a:t>Primary Dataset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280,833 EV registrations, 17 attributes. Filtered to 101,283 records with reported range &gt; 0.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1C1C"/>
                </a:solidFill>
                <a:latin typeface="Times New Roman"/>
              </a:rPr>
              <a:t>Secondary Dataset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1,468,493 registration records, FY 2017-2026. County-level urban/rural classification.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1C1C"/>
                </a:solidFill>
                <a:latin typeface="Times New Roman"/>
              </a:rPr>
              <a:t>Preprocessing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Removed null-range records; excluded zero-range entries; label-encoded Make; binary-encoded EV type and area type; ordinal-encoded CAFV eligibility.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4300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Feature Engineering (5 Features)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35608"/>
            <a:ext cx="361188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554480"/>
            <a:ext cx="3611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3D1B"/>
                </a:solidFill>
                <a:latin typeface="Times New Roman"/>
              </a:rPr>
              <a:t>Model Year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Continuous - captures battery technology progress over time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3D1B"/>
                </a:solidFill>
                <a:latin typeface="Times New Roman"/>
              </a:rPr>
              <a:t>Manufacturer (Make)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22 label-encoded categories; makes &lt; 500 registrations grouped as OTHER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3D1B"/>
                </a:solidFill>
                <a:latin typeface="Times New Roman"/>
              </a:rPr>
              <a:t>EV Type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Binary: BEV = 1, PHEV = 0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3D1B"/>
                </a:solidFill>
                <a:latin typeface="Times New Roman"/>
              </a:rPr>
              <a:t>Area Type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Binary: Urban = 1, Rural = 0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3D1B"/>
                </a:solidFill>
                <a:latin typeface="Times New Roman"/>
              </a:rPr>
              <a:t>CAFV Eligibility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Ordinal: Eligible = 2, Unknown = 1, Not Eligible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14300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Models &amp; Evaluation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435608"/>
            <a:ext cx="361188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554480"/>
            <a:ext cx="3611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1C1C"/>
                </a:solidFill>
                <a:latin typeface="Times New Roman"/>
              </a:rPr>
              <a:t>Train/Test Split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80/20 split, seed = 42.  Train: 80,962  |  Test: 20,241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1C1C"/>
                </a:solidFill>
                <a:latin typeface="Times New Roman"/>
              </a:rPr>
              <a:t>Four Models Trained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Linear Regression  (baseline)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Decision Tree  (max depth 10, min 20 samples/leaf)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Random Forest  (150 trees, depth 12)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XGBoost  (lr = 0.05, subsample = 0.8)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1C1C"/>
                </a:solidFill>
                <a:latin typeface="Times New Roman"/>
              </a:rPr>
              <a:t>Evaluation Metrics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R-squared   |   MAE (miles)   |   RMSE (miles)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0791" y="1097280"/>
            <a:ext cx="27432" cy="5486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36992" y="1097280"/>
            <a:ext cx="27432" cy="54864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1731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Exploratory Data Analysis -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64008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1B3D1B"/>
                </a:solidFill>
                <a:latin typeface="Times New Roman"/>
              </a:rPr>
              <a:t>80.2%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18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  <a:latin typeface="Times New Roman"/>
              </a:rPr>
              <a:t>BEVs of all registrations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097280"/>
            <a:ext cx="274320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18688" y="1097280"/>
            <a:ext cx="2743200" cy="64008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18688" y="116128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1B3D1B"/>
                </a:solidFill>
                <a:latin typeface="Times New Roman"/>
              </a:rPr>
              <a:t>93.9%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1618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  <a:latin typeface="Times New Roman"/>
              </a:rPr>
              <a:t>Urban area share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097280"/>
            <a:ext cx="274320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3056" y="1097280"/>
            <a:ext cx="2743200" cy="64008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116128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1B3D1B"/>
                </a:solidFill>
                <a:latin typeface="Times New Roman"/>
              </a:rPr>
              <a:t>40.9%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618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  <a:latin typeface="Times New Roman"/>
              </a:rPr>
              <a:t>Tesla's 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097280"/>
            <a:ext cx="274320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07424" y="1097280"/>
            <a:ext cx="2743200" cy="64008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07424" y="116128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1B3D1B"/>
                </a:solidFill>
                <a:latin typeface="Times New Roman"/>
              </a:rPr>
              <a:t>60,333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1618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  <a:latin typeface="Times New Roman"/>
              </a:rPr>
              <a:t>Peak registrations (2023)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249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EV Type &amp; Geographic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548640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65176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BEV dominance (80.2%) reflects Washington State's mature policy environment and charging infrastructure, reducing the need for hybrid fallback (Forsythe et al., 2023).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Urban concentration (93.9%) aligns with adoption diffusion theory - innovation spreads from high-density urban centers outward at a slower pace (Jung et al., 2023).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King County alone holds 49.2% of all registrations (138,276 vehicles). All top-10 counties are urban-classified.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Rural BEV-to-PHEV ratio (3.3:1) is lower than urban (4.1:1), suggesting range anxiety has a stronger influence on rural vehicle selection.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2157984"/>
            <a:ext cx="36576" cy="443484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249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Range &amp; Temporal Trends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542032"/>
            <a:ext cx="548640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65176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Electric range is bimodal: PHEVs cluster at 20-40 miles; BEVs at 150-337 miles. The two distributions have almost no overlap.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Average BEV range grew from 71.8 miles (2011) to 238.2 miles (2020), confirming the technological advancement trajectory (Forsythe et al., 2023).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Post-2021 average drop (to 52 miles) is a composition effect: more PHEVs began reporting range values, pulling the average down - not a technology regression.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Tesla leads manufacturer averages at 241.5 miles vs. 199.96 miles overall BEV mean. Jaguar (234.0 mi) and Polestar (233.0 mi) rank second and third.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1731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Model Performance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Regression Model Comparison  (n = 20,241 test records)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94360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36192"/>
            <a:ext cx="5760720" cy="402336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7276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</a:rPr>
              <a:t>MAE (mi)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57276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</a:rPr>
              <a:t>RMSE (mi)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7276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</a:rPr>
              <a:t>R2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38528"/>
            <a:ext cx="5760720" cy="402336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Linear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0116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33.25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45.72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0116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0.7772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40864"/>
            <a:ext cx="5760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4140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Decision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41401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3.80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41401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9.82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1401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0.9897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5760720" cy="402336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8163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8163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3.75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8163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9.80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8163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0.9898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45536"/>
            <a:ext cx="5760720" cy="402336"/>
          </a:xfrm>
          <a:prstGeom prst="rect">
            <a:avLst/>
          </a:prstGeom>
          <a:solidFill>
            <a:srgbClr val="E5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2186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D1B"/>
                </a:solidFill>
                <a:latin typeface="Times New Roman"/>
              </a:rPr>
              <a:t>XGBoost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2186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D1B"/>
                </a:solidFill>
                <a:latin typeface="Times New Roman"/>
              </a:rPr>
              <a:t>3.85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2186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D1B"/>
                </a:solidFill>
                <a:latin typeface="Times New Roman"/>
              </a:rPr>
              <a:t>9.64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2186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D1B"/>
                </a:solidFill>
                <a:latin typeface="Times New Roman"/>
              </a:rPr>
              <a:t>0.9901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097280"/>
            <a:ext cx="36576" cy="539496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117043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Key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1463040"/>
            <a:ext cx="539496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1572768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3D1B"/>
                </a:solidFill>
                <a:latin typeface="Times New Roman"/>
              </a:rPr>
              <a:t>H1 Confirmed - H0 Rejected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XGBoost achieves R2 = 0.9901, far exceeding the 0.85 threshold. All three tree-based models vastly outperform Linear Regression (R2 = 0.7772), confirming the nonlinear nature of the prediction task.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3D1B"/>
                </a:solidFill>
                <a:latin typeface="Times New Roman"/>
              </a:rPr>
              <a:t>Feature Importance Ranking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1.  Make_Encoded  - manufacturer identity is the dominant predictor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2.  EV Type Binary  - BEV vs. PHEV structural split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3.  CAFV Code  - proxy for range performance tier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4.  Model Year  - technological improvement over time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5.  Area Binary  - geographic vehicle configuration signal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3D1B"/>
                </a:solidFill>
                <a:latin typeface="Times New Roman"/>
              </a:rPr>
              <a:t>Why XGBoost over Random Forest?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Lower RMSE (9.64 vs. 9.80 miles). Sequential residual correction directly targets large errors that Random Forest averaging leaves uncorrected (Achariyaviriya et al., 2023).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1731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System Design &amp;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Three-Tier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5303520" cy="89611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128016" cy="896112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65506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D1B"/>
                </a:solidFill>
                <a:latin typeface="Times New Roman"/>
              </a:rPr>
              <a:t>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933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Times New Roman"/>
              </a:rPr>
              <a:t>Browser  |  Bootstrap 5.3  |  Chart.js 4.4  |  Jinja2 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5303520" cy="896112"/>
          </a:xfrm>
          <a:prstGeom prst="rect">
            <a:avLst/>
          </a:prstGeom>
          <a:solidFill>
            <a:srgbClr val="EF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128016" cy="896112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" y="273405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D1B"/>
                </a:solidFill>
                <a:latin typeface="Times New Roman"/>
              </a:rPr>
              <a:t>Application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0723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Times New Roman"/>
              </a:rPr>
              <a:t>Flask API  |  /predict (POST)  |  /analysis_data (GET)  |  Input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30752"/>
            <a:ext cx="5303520" cy="896112"/>
          </a:xfrm>
          <a:prstGeom prst="rect">
            <a:avLst/>
          </a:prstGeom>
          <a:solidFill>
            <a:srgbClr val="E5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730752"/>
            <a:ext cx="128016" cy="896112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" y="381304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D1B"/>
                </a:solidFill>
                <a:latin typeface="Times New Roman"/>
              </a:rPr>
              <a:t>Data &amp; Artifact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415137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Times New Roman"/>
              </a:rPr>
              <a:t>XGBoost model (1.28 MB)  |  LabelEncoder  |  StandardScaler  |  Registration 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70448" y="1097280"/>
            <a:ext cx="36576" cy="539496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17043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Application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463040"/>
            <a:ext cx="576072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572768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3D1B"/>
                </a:solidFill>
                <a:latin typeface="Times New Roman"/>
              </a:rPr>
              <a:t>Battery Range Predictor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Inputs: model year (1990-2030), manufacturer (22 options), EV type, area type, CAFV eligibility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Output: predicted range, proportional range bar (max 337 mi), tier badge (Long &gt; 250 mi / Good &gt; 150 mi / Moderate &gt; 50 mi), and model performance stats (R2 = 0.9901, MAE = 3.85 mi)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Six pre-filled sample cards (Tesla, Toyota, Nissan, Jeep, Ford, BMW) for instant one-click demonstration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3D1B"/>
                </a:solidFill>
                <a:latin typeface="Times New Roman"/>
              </a:rPr>
              <a:t>EV Adoption Analysis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Filters: fiscal year range, area type (Urban / Rural / All)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Mixed bar+line chart: EV and non-EV registrations as grouped bars; adoption rate as dashed overlay on secondary axis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KPI cards: total EVs, non-EVs, average adoption rate, year-over-year change with dynamic insight text</a:t>
            </a:r>
          </a:p>
          <a:p>
            <a:pPr algn="l"/>
            <a:r>
              <a:rPr sz="1150" b="1" i="1">
                <a:solidFill>
                  <a:srgbClr val="1B3D1B"/>
                </a:solidFill>
                <a:latin typeface="Times New Roman"/>
              </a:rPr>
              <a:t>Validation  -  2023 Tesla BEV | Urban | CAFV Eligible  -&gt;  284.1 miles (Long Range)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1731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imes New Roman"/>
              </a:rPr>
              <a:t>Conclusion, 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Key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H1 confirmed - XGBoost achieves R2 = 0.9901, MAE = 3.85 mi, RMSE = 9.64 mi on 20,241 test records, exceeding the 0.85 threshold and outperforming all three other models.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Urban-rural gap is large and persistent - 93.9% urban vs. 6.0% rural registrations. Rural counts never exceeded 4,000 (2011-2025) despite continuous urban growth.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Manufacturer identity (Make_Encoded) is the top predictor - Tesla's mean range of 241.5 miles dominates and drives the feature importance ranking.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3D1B"/>
                </a:solidFill>
                <a:latin typeface="Times New Roman"/>
              </a:rPr>
              <a:t>Three research contributions: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  High-accuracy ML model calibrated on WA population-level registration data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  Urban-rural adoption gap quantified across two independent datasets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  Deployable Flask web application bridging academic modeling and stakeholder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36576" cy="5394960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17043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57784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572768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Predicts manufacturer-reported range, not real-world dynamic range. Actual driving range is lower in cold weather, at high speed, and on hilly terrain (Cui et al., 2022).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Model trained on 93.9% urban records - may underperform for rural vehicle configurations due to limited rural training exposure.</a:t>
            </a:r>
          </a:p>
          <a:p>
            <a:pPr algn="l">
              <a:spcAft>
                <a:spcPts val="14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Only five registration-level features; excludes temperature, mileage, battery degradation, driving style, and terrain.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566160"/>
            <a:ext cx="5577840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36576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D1B"/>
                </a:solidFill>
                <a:latin typeface="Times New Roman"/>
              </a:rPr>
              <a:t>Future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950208"/>
            <a:ext cx="5577840" cy="27432"/>
          </a:xfrm>
          <a:prstGeom prst="rect">
            <a:avLst/>
          </a:prstGeom>
          <a:solidFill>
            <a:srgbClr val="C89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4059936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Integrate telematics/sensor data for real-world range prediction (Achariyaviriya et al., 2023)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Add county-level ambient temperature data to model cold-weather range degradation (Cervini et al., 2024)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Refine spatial analysis to ZIP code level to capture intra-county charging equity gaps (Esmaili et al., 2024)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C1C1C"/>
                </a:solidFill>
                <a:latin typeface="Times New Roman"/>
              </a:rPr>
              <a:t>Replace binary urban/rural classification with a continuous urbanization index based on population density and road network (Hardaway et al., 2025)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Times New Roman"/>
              </a:rPr>
              <a:t>Apply Bayesian hyperparameter optimization to further reduce RMSE beyond current manual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1586</Words>
  <Application>Microsoft Office PowerPoint</Application>
  <PresentationFormat>Custom</PresentationFormat>
  <Paragraphs>155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kesarkar</cp:lastModifiedBy>
  <cp:revision>1</cp:revision>
  <dcterms:created xsi:type="dcterms:W3CDTF">2013-01-27T09:14:16Z</dcterms:created>
  <dcterms:modified xsi:type="dcterms:W3CDTF">2026-05-14T17:51:54Z</dcterms:modified>
  <cp:category/>
</cp:coreProperties>
</file>